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Lst>
  <p:notesMasterIdLst>
    <p:notesMasterId r:id="rId3"/>
  </p:notesMasterIdLst>
  <p:sldIdLst>
    <p:sldId id="256" r:id="rId2"/>
  </p:sldIdLst>
  <p:sldSz cx="10691813" cy="14400213"/>
  <p:notesSz cx="21945600" cy="42519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749" y="-49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8573247"/>
      </p:ext>
    </p:extLst>
  </p:cSld>
  <p:clrMap bg1="lt1" tx1="dk1" bg2="lt2" tx2="dk2" accent1="accent1" accent2="accent2" accent3="accent3" accent4="accent4" accent5="accent5" accent6="accent6" hlink="hlink" folHlink="folHlink"/>
  <p:notesStyle>
    <a:lvl1pPr marL="0" algn="l" defTabSz="308399" rtl="0" eaLnBrk="1" latinLnBrk="0" hangingPunct="1">
      <a:defRPr sz="405" kern="1200">
        <a:solidFill>
          <a:schemeClr val="tx1"/>
        </a:solidFill>
        <a:latin typeface="+mn-lt"/>
        <a:ea typeface="+mn-ea"/>
        <a:cs typeface="+mn-cs"/>
      </a:defRPr>
    </a:lvl1pPr>
    <a:lvl2pPr marL="154200" algn="l" defTabSz="308399" rtl="0" eaLnBrk="1" latinLnBrk="0" hangingPunct="1">
      <a:defRPr sz="405" kern="1200">
        <a:solidFill>
          <a:schemeClr val="tx1"/>
        </a:solidFill>
        <a:latin typeface="+mn-lt"/>
        <a:ea typeface="+mn-ea"/>
        <a:cs typeface="+mn-cs"/>
      </a:defRPr>
    </a:lvl2pPr>
    <a:lvl3pPr marL="308399" algn="l" defTabSz="308399" rtl="0" eaLnBrk="1" latinLnBrk="0" hangingPunct="1">
      <a:defRPr sz="405" kern="1200">
        <a:solidFill>
          <a:schemeClr val="tx1"/>
        </a:solidFill>
        <a:latin typeface="+mn-lt"/>
        <a:ea typeface="+mn-ea"/>
        <a:cs typeface="+mn-cs"/>
      </a:defRPr>
    </a:lvl3pPr>
    <a:lvl4pPr marL="462599" algn="l" defTabSz="308399" rtl="0" eaLnBrk="1" latinLnBrk="0" hangingPunct="1">
      <a:defRPr sz="405" kern="1200">
        <a:solidFill>
          <a:schemeClr val="tx1"/>
        </a:solidFill>
        <a:latin typeface="+mn-lt"/>
        <a:ea typeface="+mn-ea"/>
        <a:cs typeface="+mn-cs"/>
      </a:defRPr>
    </a:lvl4pPr>
    <a:lvl5pPr marL="616797" algn="l" defTabSz="308399" rtl="0" eaLnBrk="1" latinLnBrk="0" hangingPunct="1">
      <a:defRPr sz="405" kern="1200">
        <a:solidFill>
          <a:schemeClr val="tx1"/>
        </a:solidFill>
        <a:latin typeface="+mn-lt"/>
        <a:ea typeface="+mn-ea"/>
        <a:cs typeface="+mn-cs"/>
      </a:defRPr>
    </a:lvl5pPr>
    <a:lvl6pPr marL="770996" algn="l" defTabSz="308399" rtl="0" eaLnBrk="1" latinLnBrk="0" hangingPunct="1">
      <a:defRPr sz="405" kern="1200">
        <a:solidFill>
          <a:schemeClr val="tx1"/>
        </a:solidFill>
        <a:latin typeface="+mn-lt"/>
        <a:ea typeface="+mn-ea"/>
        <a:cs typeface="+mn-cs"/>
      </a:defRPr>
    </a:lvl6pPr>
    <a:lvl7pPr marL="925195" algn="l" defTabSz="308399" rtl="0" eaLnBrk="1" latinLnBrk="0" hangingPunct="1">
      <a:defRPr sz="405" kern="1200">
        <a:solidFill>
          <a:schemeClr val="tx1"/>
        </a:solidFill>
        <a:latin typeface="+mn-lt"/>
        <a:ea typeface="+mn-ea"/>
        <a:cs typeface="+mn-cs"/>
      </a:defRPr>
    </a:lvl7pPr>
    <a:lvl8pPr marL="1079395" algn="l" defTabSz="308399" rtl="0" eaLnBrk="1" latinLnBrk="0" hangingPunct="1">
      <a:defRPr sz="405" kern="1200">
        <a:solidFill>
          <a:schemeClr val="tx1"/>
        </a:solidFill>
        <a:latin typeface="+mn-lt"/>
        <a:ea typeface="+mn-ea"/>
        <a:cs typeface="+mn-cs"/>
      </a:defRPr>
    </a:lvl8pPr>
    <a:lvl9pPr marL="1233594" algn="l" defTabSz="308399" rtl="0" eaLnBrk="1" latinLnBrk="0" hangingPunct="1">
      <a:defRPr sz="4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2356703"/>
            <a:ext cx="9088041" cy="5013407"/>
          </a:xfrm>
        </p:spPr>
        <p:txBody>
          <a:bodyPr anchor="b"/>
          <a:lstStyle>
            <a:lvl1pPr algn="ctr">
              <a:defRPr sz="7016"/>
            </a:lvl1pPr>
          </a:lstStyle>
          <a:p>
            <a:r>
              <a:rPr lang="en-US"/>
              <a:t>Click to edit Master title style</a:t>
            </a:r>
            <a:endParaRPr lang="en-US" dirty="0"/>
          </a:p>
        </p:txBody>
      </p:sp>
      <p:sp>
        <p:nvSpPr>
          <p:cNvPr id="3" name="Subtitle 2"/>
          <p:cNvSpPr>
            <a:spLocks noGrp="1"/>
          </p:cNvSpPr>
          <p:nvPr>
            <p:ph type="subTitle" idx="1"/>
          </p:nvPr>
        </p:nvSpPr>
        <p:spPr>
          <a:xfrm>
            <a:off x="1336477" y="7563446"/>
            <a:ext cx="8018860" cy="3476717"/>
          </a:xfrm>
        </p:spPr>
        <p:txBody>
          <a:bodyPr/>
          <a:lstStyle>
            <a:lvl1pPr marL="0" indent="0" algn="ctr">
              <a:buNone/>
              <a:defRPr sz="2806"/>
            </a:lvl1pPr>
            <a:lvl2pPr marL="534604" indent="0" algn="ctr">
              <a:buNone/>
              <a:defRPr sz="2339"/>
            </a:lvl2pPr>
            <a:lvl3pPr marL="1069208" indent="0" algn="ctr">
              <a:buNone/>
              <a:defRPr sz="2105"/>
            </a:lvl3pPr>
            <a:lvl4pPr marL="1603812" indent="0" algn="ctr">
              <a:buNone/>
              <a:defRPr sz="1871"/>
            </a:lvl4pPr>
            <a:lvl5pPr marL="2138416" indent="0" algn="ctr">
              <a:buNone/>
              <a:defRPr sz="1871"/>
            </a:lvl5pPr>
            <a:lvl6pPr marL="2673020" indent="0" algn="ctr">
              <a:buNone/>
              <a:defRPr sz="1871"/>
            </a:lvl6pPr>
            <a:lvl7pPr marL="3207624" indent="0" algn="ctr">
              <a:buNone/>
              <a:defRPr sz="1871"/>
            </a:lvl7pPr>
            <a:lvl8pPr marL="3742228" indent="0" algn="ctr">
              <a:buNone/>
              <a:defRPr sz="1871"/>
            </a:lvl8pPr>
            <a:lvl9pPr marL="4276832" indent="0" algn="ctr">
              <a:buNone/>
              <a:defRPr sz="187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798629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093197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494" y="3590057"/>
            <a:ext cx="9221689" cy="5990088"/>
          </a:xfrm>
        </p:spPr>
        <p:txBody>
          <a:bodyPr anchor="b"/>
          <a:lstStyle>
            <a:lvl1pPr>
              <a:defRPr sz="7016"/>
            </a:lvl1pPr>
          </a:lstStyle>
          <a:p>
            <a:r>
              <a:rPr lang="en-US"/>
              <a:t>Click to edit Master title style</a:t>
            </a:r>
            <a:endParaRPr lang="en-US" dirty="0"/>
          </a:p>
        </p:txBody>
      </p:sp>
      <p:sp>
        <p:nvSpPr>
          <p:cNvPr id="3" name="Text Placeholder 2"/>
          <p:cNvSpPr>
            <a:spLocks noGrp="1"/>
          </p:cNvSpPr>
          <p:nvPr>
            <p:ph type="body" idx="1"/>
          </p:nvPr>
        </p:nvSpPr>
        <p:spPr>
          <a:xfrm>
            <a:off x="729494" y="9636813"/>
            <a:ext cx="9221689" cy="3150046"/>
          </a:xfrm>
        </p:spPr>
        <p:txBody>
          <a:bodyPr/>
          <a:lstStyle>
            <a:lvl1pPr marL="0" indent="0">
              <a:buNone/>
              <a:defRPr sz="2806">
                <a:solidFill>
                  <a:schemeClr val="tx1"/>
                </a:solidFill>
              </a:defRPr>
            </a:lvl1pPr>
            <a:lvl2pPr marL="534604" indent="0">
              <a:buNone/>
              <a:defRPr sz="2339">
                <a:solidFill>
                  <a:schemeClr val="tx1">
                    <a:tint val="75000"/>
                  </a:schemeClr>
                </a:solidFill>
              </a:defRPr>
            </a:lvl2pPr>
            <a:lvl3pPr marL="1069208" indent="0">
              <a:buNone/>
              <a:defRPr sz="2105">
                <a:solidFill>
                  <a:schemeClr val="tx1">
                    <a:tint val="75000"/>
                  </a:schemeClr>
                </a:solidFill>
              </a:defRPr>
            </a:lvl3pPr>
            <a:lvl4pPr marL="1603812" indent="0">
              <a:buNone/>
              <a:defRPr sz="1871">
                <a:solidFill>
                  <a:schemeClr val="tx1">
                    <a:tint val="75000"/>
                  </a:schemeClr>
                </a:solidFill>
              </a:defRPr>
            </a:lvl4pPr>
            <a:lvl5pPr marL="2138416" indent="0">
              <a:buNone/>
              <a:defRPr sz="1871">
                <a:solidFill>
                  <a:schemeClr val="tx1">
                    <a:tint val="75000"/>
                  </a:schemeClr>
                </a:solidFill>
              </a:defRPr>
            </a:lvl5pPr>
            <a:lvl6pPr marL="2673020" indent="0">
              <a:buNone/>
              <a:defRPr sz="1871">
                <a:solidFill>
                  <a:schemeClr val="tx1">
                    <a:tint val="75000"/>
                  </a:schemeClr>
                </a:solidFill>
              </a:defRPr>
            </a:lvl6pPr>
            <a:lvl7pPr marL="3207624" indent="0">
              <a:buNone/>
              <a:defRPr sz="1871">
                <a:solidFill>
                  <a:schemeClr val="tx1">
                    <a:tint val="75000"/>
                  </a:schemeClr>
                </a:solidFill>
              </a:defRPr>
            </a:lvl7pPr>
            <a:lvl8pPr marL="3742228" indent="0">
              <a:buNone/>
              <a:defRPr sz="1871">
                <a:solidFill>
                  <a:schemeClr val="tx1">
                    <a:tint val="75000"/>
                  </a:schemeClr>
                </a:solidFill>
              </a:defRPr>
            </a:lvl8pPr>
            <a:lvl9pPr marL="4276832" indent="0">
              <a:buNone/>
              <a:defRPr sz="187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0871150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35062" y="3833390"/>
            <a:ext cx="4544021" cy="91368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12730" y="3833390"/>
            <a:ext cx="4544021" cy="91368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673622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766681"/>
            <a:ext cx="9221689" cy="27833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36456" y="3530053"/>
            <a:ext cx="4523137" cy="1730025"/>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en-US"/>
              <a:t>Click to edit Master text styles</a:t>
            </a:r>
          </a:p>
        </p:txBody>
      </p:sp>
      <p:sp>
        <p:nvSpPr>
          <p:cNvPr id="4" name="Content Placeholder 3"/>
          <p:cNvSpPr>
            <a:spLocks noGrp="1"/>
          </p:cNvSpPr>
          <p:nvPr>
            <p:ph sz="half" idx="2"/>
          </p:nvPr>
        </p:nvSpPr>
        <p:spPr>
          <a:xfrm>
            <a:off x="736456" y="5260078"/>
            <a:ext cx="4523137" cy="77367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12731" y="3530053"/>
            <a:ext cx="4545413" cy="1730025"/>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en-US"/>
              <a:t>Click to edit Master text styles</a:t>
            </a:r>
          </a:p>
        </p:txBody>
      </p:sp>
      <p:sp>
        <p:nvSpPr>
          <p:cNvPr id="6" name="Content Placeholder 5"/>
          <p:cNvSpPr>
            <a:spLocks noGrp="1"/>
          </p:cNvSpPr>
          <p:nvPr>
            <p:ph sz="quarter" idx="4"/>
          </p:nvPr>
        </p:nvSpPr>
        <p:spPr>
          <a:xfrm>
            <a:off x="5412731" y="5260078"/>
            <a:ext cx="4545413" cy="77367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449281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543981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7210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960014"/>
            <a:ext cx="3448388" cy="3360050"/>
          </a:xfrm>
        </p:spPr>
        <p:txBody>
          <a:bodyPr anchor="b"/>
          <a:lstStyle>
            <a:lvl1pPr>
              <a:defRPr sz="3742"/>
            </a:lvl1pPr>
          </a:lstStyle>
          <a:p>
            <a:r>
              <a:rPr lang="en-US"/>
              <a:t>Click to edit Master title style</a:t>
            </a:r>
            <a:endParaRPr lang="en-US" dirty="0"/>
          </a:p>
        </p:txBody>
      </p:sp>
      <p:sp>
        <p:nvSpPr>
          <p:cNvPr id="3" name="Content Placeholder 2"/>
          <p:cNvSpPr>
            <a:spLocks noGrp="1"/>
          </p:cNvSpPr>
          <p:nvPr>
            <p:ph idx="1"/>
          </p:nvPr>
        </p:nvSpPr>
        <p:spPr>
          <a:xfrm>
            <a:off x="4545413" y="2073367"/>
            <a:ext cx="5412730" cy="10233485"/>
          </a:xfrm>
        </p:spPr>
        <p:txBody>
          <a:bodyPr/>
          <a:lstStyle>
            <a:lvl1pPr>
              <a:defRPr sz="3742"/>
            </a:lvl1pPr>
            <a:lvl2pPr>
              <a:defRPr sz="3274"/>
            </a:lvl2pPr>
            <a:lvl3pPr>
              <a:defRPr sz="2806"/>
            </a:lvl3pPr>
            <a:lvl4pPr>
              <a:defRPr sz="2339"/>
            </a:lvl4pPr>
            <a:lvl5pPr>
              <a:defRPr sz="2339"/>
            </a:lvl5pPr>
            <a:lvl6pPr>
              <a:defRPr sz="2339"/>
            </a:lvl6pPr>
            <a:lvl7pPr>
              <a:defRPr sz="2339"/>
            </a:lvl7pPr>
            <a:lvl8pPr>
              <a:defRPr sz="2339"/>
            </a:lvl8pPr>
            <a:lvl9pPr>
              <a:defRPr sz="233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36455" y="4320064"/>
            <a:ext cx="3448388" cy="8003453"/>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686290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960014"/>
            <a:ext cx="3448388" cy="3360050"/>
          </a:xfrm>
        </p:spPr>
        <p:txBody>
          <a:bodyPr anchor="b"/>
          <a:lstStyle>
            <a:lvl1pPr>
              <a:defRPr sz="3742"/>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5413" y="2073367"/>
            <a:ext cx="5412730" cy="10233485"/>
          </a:xfrm>
        </p:spPr>
        <p:txBody>
          <a:bodyPr anchor="t"/>
          <a:lstStyle>
            <a:lvl1pPr marL="0" indent="0">
              <a:buNone/>
              <a:defRPr sz="3742"/>
            </a:lvl1pPr>
            <a:lvl2pPr marL="534604" indent="0">
              <a:buNone/>
              <a:defRPr sz="3274"/>
            </a:lvl2pPr>
            <a:lvl3pPr marL="1069208" indent="0">
              <a:buNone/>
              <a:defRPr sz="2806"/>
            </a:lvl3pPr>
            <a:lvl4pPr marL="1603812" indent="0">
              <a:buNone/>
              <a:defRPr sz="2339"/>
            </a:lvl4pPr>
            <a:lvl5pPr marL="2138416" indent="0">
              <a:buNone/>
              <a:defRPr sz="2339"/>
            </a:lvl5pPr>
            <a:lvl6pPr marL="2673020" indent="0">
              <a:buNone/>
              <a:defRPr sz="2339"/>
            </a:lvl6pPr>
            <a:lvl7pPr marL="3207624" indent="0">
              <a:buNone/>
              <a:defRPr sz="2339"/>
            </a:lvl7pPr>
            <a:lvl8pPr marL="3742228" indent="0">
              <a:buNone/>
              <a:defRPr sz="2339"/>
            </a:lvl8pPr>
            <a:lvl9pPr marL="4276832" indent="0">
              <a:buNone/>
              <a:defRPr sz="2339"/>
            </a:lvl9pPr>
          </a:lstStyle>
          <a:p>
            <a:r>
              <a:rPr lang="en-US"/>
              <a:t>Click icon to add picture</a:t>
            </a:r>
            <a:endParaRPr lang="en-US" dirty="0"/>
          </a:p>
        </p:txBody>
      </p:sp>
      <p:sp>
        <p:nvSpPr>
          <p:cNvPr id="4" name="Text Placeholder 3"/>
          <p:cNvSpPr>
            <a:spLocks noGrp="1"/>
          </p:cNvSpPr>
          <p:nvPr>
            <p:ph type="body" sz="half" idx="2"/>
          </p:nvPr>
        </p:nvSpPr>
        <p:spPr>
          <a:xfrm>
            <a:off x="736455" y="4320064"/>
            <a:ext cx="3448388" cy="8003453"/>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4917484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130892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766678"/>
            <a:ext cx="2305422" cy="1220351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35063" y="766678"/>
            <a:ext cx="6782619" cy="1220351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2883229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4049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766681"/>
            <a:ext cx="9221689" cy="27833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5062" y="3833390"/>
            <a:ext cx="9221689" cy="91368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062" y="13346867"/>
            <a:ext cx="2405658" cy="766678"/>
          </a:xfrm>
          <a:prstGeom prst="rect">
            <a:avLst/>
          </a:prstGeom>
        </p:spPr>
        <p:txBody>
          <a:bodyPr vert="horz" lIns="91440" tIns="45720" rIns="91440" bIns="45720" rtlCol="0" anchor="ctr"/>
          <a:lstStyle>
            <a:lvl1pPr algn="l">
              <a:defRPr sz="1403">
                <a:solidFill>
                  <a:schemeClr val="tx1">
                    <a:tint val="75000"/>
                  </a:schemeClr>
                </a:solidFill>
              </a:defRPr>
            </a:lvl1pPr>
          </a:lstStyle>
          <a:p>
            <a:fld id="{C764DE79-268F-4C1A-8933-263129D2AF90}" type="datetimeFigureOut">
              <a:rPr lang="en-US" smtClean="0"/>
              <a:t>7/13/2026</a:t>
            </a:fld>
            <a:endParaRPr lang="en-US" dirty="0"/>
          </a:p>
        </p:txBody>
      </p:sp>
      <p:sp>
        <p:nvSpPr>
          <p:cNvPr id="5" name="Footer Placeholder 4"/>
          <p:cNvSpPr>
            <a:spLocks noGrp="1"/>
          </p:cNvSpPr>
          <p:nvPr>
            <p:ph type="ftr" sz="quarter" idx="3"/>
          </p:nvPr>
        </p:nvSpPr>
        <p:spPr>
          <a:xfrm>
            <a:off x="3541663" y="13346867"/>
            <a:ext cx="3608487" cy="766678"/>
          </a:xfrm>
          <a:prstGeom prst="rect">
            <a:avLst/>
          </a:prstGeom>
        </p:spPr>
        <p:txBody>
          <a:bodyPr vert="horz" lIns="91440" tIns="45720" rIns="91440" bIns="45720" rtlCol="0" anchor="ctr"/>
          <a:lstStyle>
            <a:lvl1pPr algn="ctr">
              <a:defRPr sz="140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551093" y="13346867"/>
            <a:ext cx="2405658" cy="766678"/>
          </a:xfrm>
          <a:prstGeom prst="rect">
            <a:avLst/>
          </a:prstGeom>
        </p:spPr>
        <p:txBody>
          <a:bodyPr vert="horz" lIns="91440" tIns="45720" rIns="91440" bIns="45720" rtlCol="0" anchor="ctr"/>
          <a:lstStyle>
            <a:lvl1pPr algn="r">
              <a:defRPr sz="1403">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02140105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lvl1pPr algn="l" defTabSz="1069208" rtl="0" eaLnBrk="1" latinLnBrk="0" hangingPunct="1">
        <a:lnSpc>
          <a:spcPct val="90000"/>
        </a:lnSpc>
        <a:spcBef>
          <a:spcPct val="0"/>
        </a:spcBef>
        <a:buNone/>
        <a:defRPr sz="5145" kern="1200">
          <a:solidFill>
            <a:schemeClr val="tx1"/>
          </a:solidFill>
          <a:latin typeface="+mj-lt"/>
          <a:ea typeface="+mj-ea"/>
          <a:cs typeface="+mj-cs"/>
        </a:defRPr>
      </a:lvl1pPr>
    </p:titleStyle>
    <p:bodyStyle>
      <a:lvl1pPr marL="267302" indent="-267302" algn="l" defTabSz="1069208" rtl="0" eaLnBrk="1" latinLnBrk="0" hangingPunct="1">
        <a:lnSpc>
          <a:spcPct val="90000"/>
        </a:lnSpc>
        <a:spcBef>
          <a:spcPts val="1169"/>
        </a:spcBef>
        <a:buFont typeface="Arial" panose="020B0604020202020204" pitchFamily="34" charset="0"/>
        <a:buChar char="•"/>
        <a:defRPr sz="3274" kern="1200">
          <a:solidFill>
            <a:schemeClr val="tx1"/>
          </a:solidFill>
          <a:latin typeface="+mn-lt"/>
          <a:ea typeface="+mn-ea"/>
          <a:cs typeface="+mn-cs"/>
        </a:defRPr>
      </a:lvl1pPr>
      <a:lvl2pPr marL="801906" indent="-267302" algn="l" defTabSz="1069208" rtl="0" eaLnBrk="1" latinLnBrk="0" hangingPunct="1">
        <a:lnSpc>
          <a:spcPct val="90000"/>
        </a:lnSpc>
        <a:spcBef>
          <a:spcPts val="585"/>
        </a:spcBef>
        <a:buFont typeface="Arial" panose="020B0604020202020204" pitchFamily="34" charset="0"/>
        <a:buChar char="•"/>
        <a:defRPr sz="2806" kern="1200">
          <a:solidFill>
            <a:schemeClr val="tx1"/>
          </a:solidFill>
          <a:latin typeface="+mn-lt"/>
          <a:ea typeface="+mn-ea"/>
          <a:cs typeface="+mn-cs"/>
        </a:defRPr>
      </a:lvl2pPr>
      <a:lvl3pPr marL="1336510" indent="-267302" algn="l" defTabSz="1069208" rtl="0" eaLnBrk="1" latinLnBrk="0" hangingPunct="1">
        <a:lnSpc>
          <a:spcPct val="90000"/>
        </a:lnSpc>
        <a:spcBef>
          <a:spcPts val="585"/>
        </a:spcBef>
        <a:buFont typeface="Arial" panose="020B0604020202020204" pitchFamily="34" charset="0"/>
        <a:buChar char="•"/>
        <a:defRPr sz="2339" kern="1200">
          <a:solidFill>
            <a:schemeClr val="tx1"/>
          </a:solidFill>
          <a:latin typeface="+mn-lt"/>
          <a:ea typeface="+mn-ea"/>
          <a:cs typeface="+mn-cs"/>
        </a:defRPr>
      </a:lvl3pPr>
      <a:lvl4pPr marL="187111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4pPr>
      <a:lvl5pPr marL="2405718"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5pPr>
      <a:lvl6pPr marL="2940322"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6pPr>
      <a:lvl7pPr marL="3474926"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7pPr>
      <a:lvl8pPr marL="4009530"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8pPr>
      <a:lvl9pPr marL="454413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9pPr>
    </p:bodyStyle>
    <p:otherStyle>
      <a:defPPr>
        <a:defRPr lang="en-US"/>
      </a:defPPr>
      <a:lvl1pPr marL="0" algn="l" defTabSz="1069208" rtl="0" eaLnBrk="1" latinLnBrk="0" hangingPunct="1">
        <a:defRPr sz="2105" kern="1200">
          <a:solidFill>
            <a:schemeClr val="tx1"/>
          </a:solidFill>
          <a:latin typeface="+mn-lt"/>
          <a:ea typeface="+mn-ea"/>
          <a:cs typeface="+mn-cs"/>
        </a:defRPr>
      </a:lvl1pPr>
      <a:lvl2pPr marL="534604" algn="l" defTabSz="1069208" rtl="0" eaLnBrk="1" latinLnBrk="0" hangingPunct="1">
        <a:defRPr sz="2105" kern="1200">
          <a:solidFill>
            <a:schemeClr val="tx1"/>
          </a:solidFill>
          <a:latin typeface="+mn-lt"/>
          <a:ea typeface="+mn-ea"/>
          <a:cs typeface="+mn-cs"/>
        </a:defRPr>
      </a:lvl2pPr>
      <a:lvl3pPr marL="1069208" algn="l" defTabSz="1069208" rtl="0" eaLnBrk="1" latinLnBrk="0" hangingPunct="1">
        <a:defRPr sz="2105" kern="1200">
          <a:solidFill>
            <a:schemeClr val="tx1"/>
          </a:solidFill>
          <a:latin typeface="+mn-lt"/>
          <a:ea typeface="+mn-ea"/>
          <a:cs typeface="+mn-cs"/>
        </a:defRPr>
      </a:lvl3pPr>
      <a:lvl4pPr marL="1603812" algn="l" defTabSz="1069208" rtl="0" eaLnBrk="1" latinLnBrk="0" hangingPunct="1">
        <a:defRPr sz="2105" kern="1200">
          <a:solidFill>
            <a:schemeClr val="tx1"/>
          </a:solidFill>
          <a:latin typeface="+mn-lt"/>
          <a:ea typeface="+mn-ea"/>
          <a:cs typeface="+mn-cs"/>
        </a:defRPr>
      </a:lvl4pPr>
      <a:lvl5pPr marL="2138416" algn="l" defTabSz="1069208" rtl="0" eaLnBrk="1" latinLnBrk="0" hangingPunct="1">
        <a:defRPr sz="2105" kern="1200">
          <a:solidFill>
            <a:schemeClr val="tx1"/>
          </a:solidFill>
          <a:latin typeface="+mn-lt"/>
          <a:ea typeface="+mn-ea"/>
          <a:cs typeface="+mn-cs"/>
        </a:defRPr>
      </a:lvl5pPr>
      <a:lvl6pPr marL="2673020" algn="l" defTabSz="1069208" rtl="0" eaLnBrk="1" latinLnBrk="0" hangingPunct="1">
        <a:defRPr sz="2105" kern="1200">
          <a:solidFill>
            <a:schemeClr val="tx1"/>
          </a:solidFill>
          <a:latin typeface="+mn-lt"/>
          <a:ea typeface="+mn-ea"/>
          <a:cs typeface="+mn-cs"/>
        </a:defRPr>
      </a:lvl6pPr>
      <a:lvl7pPr marL="3207624" algn="l" defTabSz="1069208" rtl="0" eaLnBrk="1" latinLnBrk="0" hangingPunct="1">
        <a:defRPr sz="2105" kern="1200">
          <a:solidFill>
            <a:schemeClr val="tx1"/>
          </a:solidFill>
          <a:latin typeface="+mn-lt"/>
          <a:ea typeface="+mn-ea"/>
          <a:cs typeface="+mn-cs"/>
        </a:defRPr>
      </a:lvl7pPr>
      <a:lvl8pPr marL="3742228" algn="l" defTabSz="1069208" rtl="0" eaLnBrk="1" latinLnBrk="0" hangingPunct="1">
        <a:defRPr sz="2105" kern="1200">
          <a:solidFill>
            <a:schemeClr val="tx1"/>
          </a:solidFill>
          <a:latin typeface="+mn-lt"/>
          <a:ea typeface="+mn-ea"/>
          <a:cs typeface="+mn-cs"/>
        </a:defRPr>
      </a:lvl8pPr>
      <a:lvl9pPr marL="4276832" algn="l" defTabSz="1069208" rtl="0" eaLnBrk="1" latinLnBrk="0" hangingPunct="1">
        <a:defRPr sz="21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3E6"/>
        </a:solidFill>
        <a:effectLst/>
      </p:bgPr>
    </p:bg>
    <p:spTree>
      <p:nvGrpSpPr>
        <p:cNvPr id="1" name=""/>
        <p:cNvGrpSpPr/>
        <p:nvPr/>
      </p:nvGrpSpPr>
      <p:grpSpPr>
        <a:xfrm>
          <a:off x="0" y="0"/>
          <a:ext cx="0" cy="0"/>
          <a:chOff x="0" y="0"/>
          <a:chExt cx="0" cy="0"/>
        </a:xfrm>
      </p:grpSpPr>
      <p:sp>
        <p:nvSpPr>
          <p:cNvPr id="2" name="Shape 0"/>
          <p:cNvSpPr/>
          <p:nvPr/>
        </p:nvSpPr>
        <p:spPr>
          <a:xfrm>
            <a:off x="262328" y="-44903"/>
            <a:ext cx="10239262" cy="1225721"/>
          </a:xfrm>
          <a:prstGeom prst="rect">
            <a:avLst/>
          </a:prstGeom>
          <a:solidFill>
            <a:srgbClr val="16261C"/>
          </a:solidFill>
          <a:ln/>
        </p:spPr>
      </p:sp>
      <p:sp>
        <p:nvSpPr>
          <p:cNvPr id="4" name="Text 2"/>
          <p:cNvSpPr/>
          <p:nvPr/>
        </p:nvSpPr>
        <p:spPr>
          <a:xfrm>
            <a:off x="1443733" y="16059"/>
            <a:ext cx="8303989" cy="397988"/>
          </a:xfrm>
          <a:prstGeom prst="rect">
            <a:avLst/>
          </a:prstGeom>
          <a:noFill/>
          <a:ln/>
        </p:spPr>
        <p:txBody>
          <a:bodyPr wrap="square" lIns="0" tIns="0" rIns="0" bIns="0" rtlCol="0" anchor="ctr"/>
          <a:lstStyle/>
          <a:p>
            <a:pPr algn="ctr"/>
            <a:r>
              <a:rPr lang="en-US" sz="1700" i="1" kern="0" spc="55" dirty="0">
                <a:solidFill>
                  <a:srgbClr val="CFE3C4"/>
                </a:solidFill>
                <a:latin typeface="Georgia" pitchFamily="34" charset="0"/>
                <a:ea typeface="Georgia" pitchFamily="34" charset="-122"/>
                <a:cs typeface="Georgia" pitchFamily="34" charset="-120"/>
              </a:rPr>
              <a:t>ENT 302 </a:t>
            </a:r>
          </a:p>
          <a:p>
            <a:pPr algn="ctr"/>
            <a:r>
              <a:rPr lang="en-US" sz="1700" i="1" kern="0" spc="55" dirty="0">
                <a:solidFill>
                  <a:srgbClr val="CFE3C4"/>
                </a:solidFill>
                <a:latin typeface="Georgia" pitchFamily="34" charset="0"/>
                <a:ea typeface="Georgia" pitchFamily="34" charset="-122"/>
                <a:cs typeface="Georgia" pitchFamily="34" charset="-120"/>
              </a:rPr>
              <a:t>BASIC APPLICATION OF GIS (GEOGRAPHIC INFORMATION SYSTEM)</a:t>
            </a:r>
            <a:endParaRPr lang="en-US" sz="1700" dirty="0"/>
          </a:p>
        </p:txBody>
      </p:sp>
      <p:sp>
        <p:nvSpPr>
          <p:cNvPr id="5" name="Text 3"/>
          <p:cNvSpPr/>
          <p:nvPr/>
        </p:nvSpPr>
        <p:spPr>
          <a:xfrm>
            <a:off x="2846753" y="500413"/>
            <a:ext cx="5565650" cy="476339"/>
          </a:xfrm>
          <a:prstGeom prst="rect">
            <a:avLst/>
          </a:prstGeom>
          <a:noFill/>
          <a:ln/>
        </p:spPr>
        <p:txBody>
          <a:bodyPr wrap="square" lIns="0" tIns="0" rIns="0" bIns="0" rtlCol="0" anchor="t"/>
          <a:lstStyle/>
          <a:p>
            <a:pPr algn="ctr"/>
            <a:r>
              <a:rPr lang="en-US" sz="823" b="1" dirty="0">
                <a:solidFill>
                  <a:srgbClr val="F4F7EE"/>
                </a:solidFill>
                <a:latin typeface="Georgia" pitchFamily="34" charset="0"/>
                <a:ea typeface="Georgia" pitchFamily="34" charset="-122"/>
                <a:cs typeface="Georgia" pitchFamily="34" charset="-120"/>
              </a:rPr>
              <a:t>GIS APPLICATION IN ANALYSIS OF SAN MARINO THESE ANALYSIS INCLUDE</a:t>
            </a:r>
          </a:p>
          <a:p>
            <a:pPr algn="ctr"/>
            <a:r>
              <a:rPr lang="en-US" sz="823" b="1" dirty="0">
                <a:solidFill>
                  <a:srgbClr val="F4F7EE"/>
                </a:solidFill>
                <a:latin typeface="Georgia" pitchFamily="34" charset="0"/>
              </a:rPr>
              <a:t>(DIGITIZATION,</a:t>
            </a:r>
            <a:r>
              <a:rPr lang="en-US" sz="823" b="1" dirty="0">
                <a:solidFill>
                  <a:srgbClr val="F4F7EE"/>
                </a:solidFill>
                <a:latin typeface="Georgia" pitchFamily="34" charset="0"/>
                <a:ea typeface="Georgia" pitchFamily="34" charset="-122"/>
                <a:cs typeface="Georgia" pitchFamily="34" charset="-120"/>
              </a:rPr>
              <a:t>LAND USE/LAND COVER &amp; VEGETATION,NDVI,IMAGE CLASSIFICATION</a:t>
            </a:r>
            <a:endParaRPr lang="en-US" sz="823" dirty="0"/>
          </a:p>
        </p:txBody>
      </p:sp>
      <p:sp>
        <p:nvSpPr>
          <p:cNvPr id="6" name="Text 4"/>
          <p:cNvSpPr/>
          <p:nvPr/>
        </p:nvSpPr>
        <p:spPr>
          <a:xfrm>
            <a:off x="3043952" y="737182"/>
            <a:ext cx="5565650" cy="223808"/>
          </a:xfrm>
          <a:prstGeom prst="rect">
            <a:avLst/>
          </a:prstGeom>
          <a:noFill/>
          <a:ln/>
        </p:spPr>
        <p:txBody>
          <a:bodyPr wrap="square" lIns="0" tIns="0" rIns="0" bIns="0" rtlCol="0" anchor="ctr"/>
          <a:lstStyle/>
          <a:p>
            <a:pPr algn="ctr"/>
            <a:r>
              <a:rPr lang="en-US" sz="800" dirty="0">
                <a:solidFill>
                  <a:srgbClr val="F4F7EE"/>
                </a:solidFill>
                <a:latin typeface="Georgia" pitchFamily="34" charset="0"/>
                <a:ea typeface="Georgia" pitchFamily="34" charset="-122"/>
                <a:cs typeface="Georgia" pitchFamily="34" charset="-120"/>
              </a:rPr>
              <a:t>By: </a:t>
            </a:r>
            <a:r>
              <a:rPr lang="en-US" sz="800" b="1" dirty="0">
                <a:solidFill>
                  <a:srgbClr val="F4F7EE"/>
                </a:solidFill>
                <a:latin typeface="Georgia" pitchFamily="34" charset="0"/>
                <a:ea typeface="Georgia" pitchFamily="34" charset="-122"/>
                <a:cs typeface="Georgia" pitchFamily="34" charset="-120"/>
              </a:rPr>
              <a:t>OYEWALE SAMUEL</a:t>
            </a:r>
            <a:r>
              <a:rPr lang="en-US" sz="800" dirty="0">
                <a:solidFill>
                  <a:srgbClr val="F4F7EE"/>
                </a:solidFill>
                <a:latin typeface="Georgia" pitchFamily="34" charset="0"/>
                <a:ea typeface="Georgia" pitchFamily="34" charset="-122"/>
                <a:cs typeface="Georgia" pitchFamily="34" charset="-120"/>
              </a:rPr>
              <a:t>  |  Applied Geology, Federal University of Technology, Akure  |  Matric No: </a:t>
            </a:r>
            <a:r>
              <a:rPr lang="en-US" sz="800" b="1" dirty="0">
                <a:solidFill>
                  <a:srgbClr val="F4F7EE"/>
                </a:solidFill>
                <a:latin typeface="Georgia" pitchFamily="34" charset="0"/>
                <a:ea typeface="Georgia" pitchFamily="34" charset="-122"/>
                <a:cs typeface="Georgia" pitchFamily="34" charset="-120"/>
              </a:rPr>
              <a:t>AGY/23/4284</a:t>
            </a:r>
            <a:endParaRPr lang="en-US" sz="800" dirty="0"/>
          </a:p>
        </p:txBody>
      </p:sp>
      <p:sp>
        <p:nvSpPr>
          <p:cNvPr id="7" name="Text 5"/>
          <p:cNvSpPr/>
          <p:nvPr/>
        </p:nvSpPr>
        <p:spPr>
          <a:xfrm>
            <a:off x="2808576" y="965150"/>
            <a:ext cx="5565650" cy="125352"/>
          </a:xfrm>
          <a:prstGeom prst="rect">
            <a:avLst/>
          </a:prstGeom>
          <a:noFill/>
          <a:ln/>
        </p:spPr>
        <p:txBody>
          <a:bodyPr wrap="square" lIns="0" tIns="0" rIns="0" bIns="0" rtlCol="0" anchor="ctr"/>
          <a:lstStyle/>
          <a:p>
            <a:pPr algn="ctr"/>
            <a:r>
              <a:rPr lang="en-US" sz="1000" dirty="0">
                <a:solidFill>
                  <a:srgbClr val="F4F7EE"/>
                </a:solidFill>
                <a:latin typeface="Georgia" pitchFamily="34" charset="0"/>
                <a:ea typeface="Georgia" pitchFamily="34" charset="-122"/>
                <a:cs typeface="Georgia" pitchFamily="34" charset="-120"/>
              </a:rPr>
              <a:t>Supervised by: </a:t>
            </a:r>
            <a:r>
              <a:rPr lang="en-US" sz="1000" b="1" dirty="0">
                <a:solidFill>
                  <a:srgbClr val="F4F7EE"/>
                </a:solidFill>
                <a:latin typeface="Georgia" pitchFamily="34" charset="0"/>
                <a:ea typeface="Georgia" pitchFamily="34" charset="-122"/>
                <a:cs typeface="Georgia" pitchFamily="34" charset="-120"/>
              </a:rPr>
              <a:t>Dr. Popoola</a:t>
            </a:r>
            <a:endParaRPr lang="en-US" sz="1000" dirty="0"/>
          </a:p>
        </p:txBody>
      </p:sp>
      <p:sp>
        <p:nvSpPr>
          <p:cNvPr id="9" name="Text 7"/>
          <p:cNvSpPr/>
          <p:nvPr/>
        </p:nvSpPr>
        <p:spPr>
          <a:xfrm>
            <a:off x="5062437" y="1166621"/>
            <a:ext cx="5565650" cy="137888"/>
          </a:xfrm>
          <a:prstGeom prst="rect">
            <a:avLst/>
          </a:prstGeom>
          <a:noFill/>
          <a:ln/>
        </p:spPr>
        <p:txBody>
          <a:bodyPr wrap="square" lIns="0" tIns="0" rIns="0" bIns="0" rtlCol="0" anchor="ctr"/>
          <a:lstStyle/>
          <a:p>
            <a:r>
              <a:rPr lang="en-US" sz="493" b="1" kern="0" spc="41" dirty="0">
                <a:solidFill>
                  <a:srgbClr val="F4F7EE"/>
                </a:solidFill>
                <a:latin typeface="Georgia" pitchFamily="34" charset="0"/>
                <a:ea typeface="Georgia" pitchFamily="34" charset="-122"/>
                <a:cs typeface="Georgia" pitchFamily="34" charset="-120"/>
              </a:rPr>
              <a:t>INTRODUCTION</a:t>
            </a:r>
            <a:endParaRPr lang="en-US" sz="493" dirty="0"/>
          </a:p>
        </p:txBody>
      </p:sp>
      <p:sp>
        <p:nvSpPr>
          <p:cNvPr id="10" name="Shape 8"/>
          <p:cNvSpPr/>
          <p:nvPr/>
        </p:nvSpPr>
        <p:spPr>
          <a:xfrm>
            <a:off x="287953" y="1144349"/>
            <a:ext cx="10220541" cy="1078031"/>
          </a:xfrm>
          <a:prstGeom prst="rect">
            <a:avLst/>
          </a:prstGeom>
          <a:solidFill>
            <a:srgbClr val="CFE3C4"/>
          </a:solidFill>
          <a:ln/>
        </p:spPr>
      </p:sp>
      <p:sp>
        <p:nvSpPr>
          <p:cNvPr id="11" name="Text 9"/>
          <p:cNvSpPr/>
          <p:nvPr/>
        </p:nvSpPr>
        <p:spPr>
          <a:xfrm>
            <a:off x="978413" y="1324247"/>
            <a:ext cx="8613856" cy="977749"/>
          </a:xfrm>
          <a:prstGeom prst="rect">
            <a:avLst/>
          </a:prstGeom>
          <a:noFill/>
          <a:ln/>
        </p:spPr>
        <p:txBody>
          <a:bodyPr wrap="square" lIns="0" tIns="0" rIns="0" bIns="0" rtlCol="0" anchor="t"/>
          <a:lstStyle/>
          <a:p>
            <a:pPr algn="just">
              <a:lnSpc>
                <a:spcPct val="112000"/>
              </a:lnSpc>
            </a:pPr>
            <a:r>
              <a:rPr lang="en-US" sz="500" dirty="0">
                <a:solidFill>
                  <a:srgbClr val="142016"/>
                </a:solidFill>
                <a:latin typeface="Georgia" pitchFamily="34" charset="0"/>
                <a:ea typeface="Georgia" pitchFamily="34" charset="-122"/>
                <a:cs typeface="Georgia" pitchFamily="34" charset="-120"/>
              </a:rPr>
              <a:t>Geographic Information Systems (GIS) are computer-based systems designed to capture, store, manage, analyze, and visualize spatially referenced data. By linking geographic location to descriptive attributes, GIS allows real-world features, boundaries, land cover, elevation, infrastructure, to be represented as discrete layers that can be queried, overlaid, and interpreted together. Core GIS operations include digitizing and georeferencing, spatial interpolation, image classification, buffering and overlay analysis, and cartographic output.</a:t>
            </a:r>
            <a:endParaRPr lang="en-US" sz="500" dirty="0"/>
          </a:p>
          <a:p>
            <a:pPr algn="just">
              <a:lnSpc>
                <a:spcPct val="112000"/>
              </a:lnSpc>
            </a:pPr>
            <a:endParaRPr lang="en-US" sz="500" dirty="0"/>
          </a:p>
          <a:p>
            <a:pPr algn="just">
              <a:lnSpc>
                <a:spcPct val="112000"/>
              </a:lnSpc>
            </a:pPr>
            <a:r>
              <a:rPr lang="en-US" sz="500" dirty="0">
                <a:solidFill>
                  <a:srgbClr val="142016"/>
                </a:solidFill>
                <a:latin typeface="Georgia" pitchFamily="34" charset="0"/>
                <a:ea typeface="Georgia" pitchFamily="34" charset="-122"/>
                <a:cs typeface="Georgia" pitchFamily="34" charset="-120"/>
              </a:rPr>
              <a:t>GIS is applied across virtually every sector that depends on location: urban and regional planning uses it for land-use zoning and infrastructure siting; agriculture relies on it for precision farming and soil mapping; disaster management uses it for flood, landslide, and wildfire risk modeling; public health uses it to track disease spread; and environmental management uses it to monitor deforestation, vegetation health, and climate impacts, exactly as illustrated later in this poster.</a:t>
            </a:r>
            <a:endParaRPr lang="en-US" sz="500" dirty="0"/>
          </a:p>
          <a:p>
            <a:pPr algn="just">
              <a:lnSpc>
                <a:spcPct val="112000"/>
              </a:lnSpc>
            </a:pPr>
            <a:endParaRPr lang="en-US" sz="500" dirty="0"/>
          </a:p>
          <a:p>
            <a:pPr algn="just">
              <a:lnSpc>
                <a:spcPct val="112000"/>
              </a:lnSpc>
            </a:pPr>
            <a:r>
              <a:rPr lang="en-US" sz="500" dirty="0">
                <a:solidFill>
                  <a:srgbClr val="142016"/>
                </a:solidFill>
                <a:latin typeface="Georgia" pitchFamily="34" charset="0"/>
                <a:ea typeface="Georgia" pitchFamily="34" charset="-122"/>
                <a:cs typeface="Georgia" pitchFamily="34" charset="-120"/>
              </a:rPr>
              <a:t>For geology specifically, GIS is an indispensable tool. It underpins geological mapping and stratigraphic correlation, mineral and hydrocarbon exploration through the integration of geophysical and geochemical survey data, terrain and slope analysis for landslide and erosion hazard assessment, hydrogeological modeling of aquifers and groundwater flow, and structural analysis through the interpretation of lineaments and fault patterns from satellite imagery and digital elevation models. As a 300-level Applied Geology student, this poster reflects hands-on training in these techniques, applied to San Marino as a compact, data-rich case study, ahead of their application to real subsurface and surface geological problems.</a:t>
            </a:r>
            <a:endParaRPr lang="en-US" sz="500" dirty="0"/>
          </a:p>
        </p:txBody>
      </p:sp>
      <p:sp>
        <p:nvSpPr>
          <p:cNvPr id="12" name="Shape 10"/>
          <p:cNvSpPr/>
          <p:nvPr/>
        </p:nvSpPr>
        <p:spPr>
          <a:xfrm>
            <a:off x="287954" y="2218614"/>
            <a:ext cx="10220540" cy="268465"/>
          </a:xfrm>
          <a:prstGeom prst="rect">
            <a:avLst/>
          </a:prstGeom>
          <a:solidFill>
            <a:srgbClr val="0D150F"/>
          </a:solidFill>
          <a:ln/>
        </p:spPr>
      </p:sp>
      <p:sp>
        <p:nvSpPr>
          <p:cNvPr id="13" name="Text 11"/>
          <p:cNvSpPr/>
          <p:nvPr/>
        </p:nvSpPr>
        <p:spPr>
          <a:xfrm>
            <a:off x="1443734" y="2307097"/>
            <a:ext cx="2732684" cy="137888"/>
          </a:xfrm>
          <a:prstGeom prst="rect">
            <a:avLst/>
          </a:prstGeom>
          <a:noFill/>
          <a:ln/>
        </p:spPr>
        <p:txBody>
          <a:bodyPr wrap="square" lIns="0" tIns="0" rIns="0" bIns="0" rtlCol="0" anchor="ctr"/>
          <a:lstStyle/>
          <a:p>
            <a:r>
              <a:rPr lang="en-US" sz="500" b="1" kern="0" spc="41" dirty="0">
                <a:solidFill>
                  <a:srgbClr val="F4F7EE"/>
                </a:solidFill>
                <a:latin typeface="Georgia" pitchFamily="34" charset="0"/>
                <a:ea typeface="Georgia" pitchFamily="34" charset="-122"/>
                <a:cs typeface="Georgia" pitchFamily="34" charset="-120"/>
              </a:rPr>
              <a:t>METHODOLOGY</a:t>
            </a:r>
            <a:endParaRPr lang="en-US" sz="500" dirty="0"/>
          </a:p>
        </p:txBody>
      </p:sp>
      <p:sp>
        <p:nvSpPr>
          <p:cNvPr id="14" name="Text 12"/>
          <p:cNvSpPr/>
          <p:nvPr/>
        </p:nvSpPr>
        <p:spPr>
          <a:xfrm>
            <a:off x="5619990" y="2288252"/>
            <a:ext cx="2732684" cy="137888"/>
          </a:xfrm>
          <a:prstGeom prst="rect">
            <a:avLst/>
          </a:prstGeom>
          <a:noFill/>
          <a:ln/>
        </p:spPr>
        <p:txBody>
          <a:bodyPr wrap="square" lIns="0" tIns="0" rIns="0" bIns="0" rtlCol="0" anchor="ctr"/>
          <a:lstStyle/>
          <a:p>
            <a:r>
              <a:rPr lang="en-US" sz="500" b="1" kern="0" spc="41" dirty="0">
                <a:solidFill>
                  <a:srgbClr val="F4F7EE"/>
                </a:solidFill>
                <a:latin typeface="Georgia" pitchFamily="34" charset="0"/>
                <a:ea typeface="Georgia" pitchFamily="34" charset="-122"/>
                <a:cs typeface="Georgia" pitchFamily="34" charset="-120"/>
              </a:rPr>
              <a:t>STUDY AREA</a:t>
            </a:r>
            <a:endParaRPr lang="en-US" sz="500" dirty="0"/>
          </a:p>
        </p:txBody>
      </p:sp>
      <p:sp>
        <p:nvSpPr>
          <p:cNvPr id="16" name="Shape 14"/>
          <p:cNvSpPr/>
          <p:nvPr/>
        </p:nvSpPr>
        <p:spPr>
          <a:xfrm>
            <a:off x="5285341" y="2405291"/>
            <a:ext cx="0" cy="990285"/>
          </a:xfrm>
          <a:prstGeom prst="line">
            <a:avLst/>
          </a:prstGeom>
          <a:noFill/>
          <a:ln w="19050">
            <a:solidFill>
              <a:srgbClr val="0D150F"/>
            </a:solidFill>
            <a:prstDash val="solid"/>
          </a:ln>
        </p:spPr>
      </p:sp>
      <p:sp>
        <p:nvSpPr>
          <p:cNvPr id="17" name="Text 15"/>
          <p:cNvSpPr/>
          <p:nvPr/>
        </p:nvSpPr>
        <p:spPr>
          <a:xfrm>
            <a:off x="489710" y="2528482"/>
            <a:ext cx="4934489" cy="777185"/>
          </a:xfrm>
          <a:prstGeom prst="rect">
            <a:avLst/>
          </a:prstGeom>
          <a:noFill/>
          <a:ln/>
        </p:spPr>
        <p:txBody>
          <a:bodyPr wrap="square" lIns="0" tIns="0" rIns="0" bIns="0" rtlCol="0" anchor="t"/>
          <a:lstStyle/>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Acquire administrative shapefile (municipality boundaries) and Landsat 8 OLI/TIRS imagery of San Marino, projected to WGS 1984 UTM Zone 33N</a:t>
            </a:r>
            <a:endParaRPr lang="en-US" sz="500" dirty="0"/>
          </a:p>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Digitize and georeference the nine municipal boundaries by heads-up digitizing, then clean topology (snap vertices, close gaps, remove slivers)</a:t>
            </a:r>
            <a:endParaRPr lang="en-US" sz="500" dirty="0"/>
          </a:p>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Perform supervised image classification on Serravalle using training signatures for 5 classes and a Maximum Likelihood classifier; validate with a confusion matrix</a:t>
            </a:r>
            <a:endParaRPr lang="en-US" sz="500" dirty="0"/>
          </a:p>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Compute NDVI as (NIR - Red)/(NIR + Red) from Bands 5 and 4, then reclassify into 6 vegetation-vigor classes using natural-breaks thresholds</a:t>
            </a:r>
            <a:endParaRPr lang="en-US" sz="500" dirty="0"/>
          </a:p>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Reclassify the NDVI raster into a 3-class Land Use/Land Cover (LULC) map (Water, Vegetation, Urban) using fixed NDVI thresholds</a:t>
            </a:r>
            <a:endParaRPr lang="en-US" sz="500" dirty="0"/>
          </a:p>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Interpolate elevation points into a contour surface at a 50 m interval and generate a hillshade-style elevation classification (0-1000 m)</a:t>
            </a:r>
            <a:endParaRPr lang="en-US" sz="500" dirty="0"/>
          </a:p>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Compute zonal area statistics per class for each output and apply consistent symbology, legends, and cartographic layout</a:t>
            </a:r>
            <a:endParaRPr lang="en-US" sz="500" dirty="0"/>
          </a:p>
        </p:txBody>
      </p:sp>
      <p:sp>
        <p:nvSpPr>
          <p:cNvPr id="18" name="Text 16"/>
          <p:cNvSpPr/>
          <p:nvPr/>
        </p:nvSpPr>
        <p:spPr>
          <a:xfrm>
            <a:off x="5619990" y="2585432"/>
            <a:ext cx="2657473" cy="777185"/>
          </a:xfrm>
          <a:prstGeom prst="rect">
            <a:avLst/>
          </a:prstGeom>
          <a:noFill/>
          <a:ln/>
        </p:spPr>
        <p:txBody>
          <a:bodyPr wrap="square" lIns="0" tIns="0" rIns="0" bIns="0" rtlCol="0" anchor="t"/>
          <a:lstStyle/>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Republic of San Marino (9 municipalities)</a:t>
            </a:r>
            <a:endParaRPr lang="en-US" sz="500" dirty="0"/>
          </a:p>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Municipality of Serravalle (image classification focus)</a:t>
            </a:r>
            <a:endParaRPr lang="en-US" sz="500" dirty="0"/>
          </a:p>
          <a:p>
            <a:pPr marL="94022" indent="-94022">
              <a:spcAft>
                <a:spcPts val="274"/>
              </a:spcAft>
              <a:buSzPct val="100000"/>
              <a:buChar char="•"/>
            </a:pPr>
            <a:r>
              <a:rPr lang="en-US" sz="500" dirty="0">
                <a:solidFill>
                  <a:srgbClr val="142016"/>
                </a:solidFill>
                <a:latin typeface="Georgia" pitchFamily="34" charset="0"/>
                <a:ea typeface="Georgia" pitchFamily="34" charset="-122"/>
                <a:cs typeface="Georgia" pitchFamily="34" charset="-120"/>
              </a:rPr>
              <a:t>Full territorial extent of San Marino (NDVI &amp; LULC analysis)</a:t>
            </a:r>
            <a:endParaRPr lang="en-US" sz="500" dirty="0"/>
          </a:p>
        </p:txBody>
      </p:sp>
      <p:sp>
        <p:nvSpPr>
          <p:cNvPr id="19" name="Shape 17"/>
          <p:cNvSpPr/>
          <p:nvPr/>
        </p:nvSpPr>
        <p:spPr>
          <a:xfrm>
            <a:off x="327359" y="3422965"/>
            <a:ext cx="10250585" cy="170992"/>
          </a:xfrm>
          <a:prstGeom prst="rect">
            <a:avLst/>
          </a:prstGeom>
          <a:solidFill>
            <a:srgbClr val="0D150F"/>
          </a:solidFill>
          <a:ln/>
        </p:spPr>
      </p:sp>
      <p:sp>
        <p:nvSpPr>
          <p:cNvPr id="20" name="Text 18"/>
          <p:cNvSpPr/>
          <p:nvPr/>
        </p:nvSpPr>
        <p:spPr>
          <a:xfrm>
            <a:off x="5062437" y="3422965"/>
            <a:ext cx="5565650" cy="137888"/>
          </a:xfrm>
          <a:prstGeom prst="rect">
            <a:avLst/>
          </a:prstGeom>
          <a:noFill/>
          <a:ln/>
        </p:spPr>
        <p:txBody>
          <a:bodyPr wrap="square" lIns="0" tIns="0" rIns="0" bIns="0" rtlCol="0" anchor="ctr"/>
          <a:lstStyle/>
          <a:p>
            <a:r>
              <a:rPr lang="en-US" sz="493" b="1" kern="0" spc="41" dirty="0">
                <a:solidFill>
                  <a:srgbClr val="F4F7EE"/>
                </a:solidFill>
                <a:latin typeface="Georgia" pitchFamily="34" charset="0"/>
                <a:ea typeface="Georgia" pitchFamily="34" charset="-122"/>
                <a:cs typeface="Georgia" pitchFamily="34" charset="-120"/>
              </a:rPr>
              <a:t>FINDINGS &amp; DISCUSSION</a:t>
            </a:r>
            <a:endParaRPr lang="en-US" sz="493" dirty="0"/>
          </a:p>
        </p:txBody>
      </p:sp>
      <p:pic>
        <p:nvPicPr>
          <p:cNvPr id="21" name="Image 0" descr="/home/claude/poster_imgs/municipalities.png"/>
          <p:cNvPicPr>
            <a:picLocks noChangeAspect="1"/>
          </p:cNvPicPr>
          <p:nvPr/>
        </p:nvPicPr>
        <p:blipFill>
          <a:blip r:embed="rId3"/>
          <a:stretch>
            <a:fillRect/>
          </a:stretch>
        </p:blipFill>
        <p:spPr>
          <a:xfrm>
            <a:off x="249274" y="3812721"/>
            <a:ext cx="2708855" cy="2113755"/>
          </a:xfrm>
          <a:prstGeom prst="rect">
            <a:avLst/>
          </a:prstGeom>
        </p:spPr>
      </p:pic>
      <p:sp>
        <p:nvSpPr>
          <p:cNvPr id="23" name="Text 20"/>
          <p:cNvSpPr/>
          <p:nvPr/>
        </p:nvSpPr>
        <p:spPr>
          <a:xfrm>
            <a:off x="611156" y="3620345"/>
            <a:ext cx="1697240" cy="117733"/>
          </a:xfrm>
          <a:prstGeom prst="rect">
            <a:avLst/>
          </a:prstGeom>
          <a:noFill/>
          <a:ln/>
        </p:spPr>
        <p:txBody>
          <a:bodyPr wrap="square" lIns="0" tIns="0" rIns="0" bIns="0" rtlCol="0" anchor="ctr"/>
          <a:lstStyle/>
          <a:p>
            <a:pPr algn="ctr"/>
            <a:r>
              <a:rPr lang="en-US" sz="600" i="1" dirty="0">
                <a:solidFill>
                  <a:srgbClr val="3A4A3C"/>
                </a:solidFill>
                <a:latin typeface="Georgia" pitchFamily="34" charset="0"/>
                <a:ea typeface="Georgia" pitchFamily="34" charset="-122"/>
                <a:cs typeface="Georgia" pitchFamily="34" charset="-120"/>
              </a:rPr>
              <a:t>Fig. 1.0: Map showing the nine municipalities of San Marino</a:t>
            </a:r>
            <a:endParaRPr lang="en-US" sz="600" dirty="0"/>
          </a:p>
        </p:txBody>
      </p:sp>
      <p:sp>
        <p:nvSpPr>
          <p:cNvPr id="24" name="Text 21"/>
          <p:cNvSpPr/>
          <p:nvPr/>
        </p:nvSpPr>
        <p:spPr>
          <a:xfrm>
            <a:off x="3123012" y="3896011"/>
            <a:ext cx="5407530" cy="1103102"/>
          </a:xfrm>
          <a:prstGeom prst="rect">
            <a:avLst/>
          </a:prstGeom>
          <a:noFill/>
          <a:ln/>
        </p:spPr>
        <p:txBody>
          <a:bodyPr wrap="square" lIns="0" tIns="0" rIns="0" bIns="0" rtlCol="0" anchor="t"/>
          <a:lstStyle/>
          <a:p>
            <a:pPr algn="just">
              <a:lnSpc>
                <a:spcPct val="115000"/>
              </a:lnSpc>
            </a:pPr>
            <a:r>
              <a:rPr lang="en-US" sz="700" b="1" dirty="0">
                <a:solidFill>
                  <a:srgbClr val="142016"/>
                </a:solidFill>
                <a:latin typeface="Georgia" pitchFamily="34" charset="0"/>
                <a:ea typeface="Georgia" pitchFamily="34" charset="-122"/>
                <a:cs typeface="Georgia" pitchFamily="34" charset="-120"/>
              </a:rPr>
              <a:t>Fig. 1.0 </a:t>
            </a:r>
            <a:r>
              <a:rPr lang="en-US" sz="700" dirty="0">
                <a:solidFill>
                  <a:srgbClr val="142016"/>
                </a:solidFill>
                <a:latin typeface="Georgia" pitchFamily="34" charset="0"/>
                <a:ea typeface="Georgia" pitchFamily="34" charset="-122"/>
                <a:cs typeface="Georgia" pitchFamily="34" charset="-120"/>
              </a:rPr>
              <a:t>shows the digitized and georeferenced administrative boundary map of San Marino, delineating all </a:t>
            </a:r>
            <a:r>
              <a:rPr lang="en-US" sz="700" b="1" dirty="0">
                <a:solidFill>
                  <a:srgbClr val="142016"/>
                </a:solidFill>
                <a:latin typeface="Georgia" pitchFamily="34" charset="0"/>
                <a:ea typeface="Georgia" pitchFamily="34" charset="-122"/>
                <a:cs typeface="Georgia" pitchFamily="34" charset="-120"/>
              </a:rPr>
              <a:t>nine municipalities (castelli)</a:t>
            </a:r>
            <a:r>
              <a:rPr lang="en-US" sz="700" dirty="0">
                <a:solidFill>
                  <a:srgbClr val="142016"/>
                </a:solidFill>
                <a:latin typeface="Georgia" pitchFamily="34" charset="0"/>
                <a:ea typeface="Georgia" pitchFamily="34" charset="-122"/>
                <a:cs typeface="Georgia" pitchFamily="34" charset="-120"/>
              </a:rPr>
              <a:t>: Acquaviva, Borgo Maggiore, Chiesanuova, Domagnano, Faetano, Fiorentino, Montegiardino, San Marino (Città), and Serravalle. Boundaries were digitized by heads-up tracing over a georeferenced base layer, projected to WGS 1984 UTM Zone 33N, and topologically cleaned to remove slivers and gaps between adjoining polygons.
Serravalle emerges as the largest and most populous municipality, occupying the northeastern lowland sector that borders Italy's Emilia-Romagna region, while Chiesanuova, Montegiardino, and Fiorentino form the smaller, more rural southern municipalities. San Marino City, seated on Monte Titano, is geographically central despite its modest area. This boundary layer is the base framework onto which the classification, NDVI, and LULC layers in Figs. 2-4 are subsequently clipped, joined, and cross-tabulated, so the positional accuracy achieved here directly governs the reliability of every downstream zonal statistic.</a:t>
            </a:r>
            <a:endParaRPr lang="en-US" sz="700" dirty="0"/>
          </a:p>
        </p:txBody>
      </p:sp>
      <p:pic>
        <p:nvPicPr>
          <p:cNvPr id="25" name="Image 1" descr="/home/claude/poster_imgs/classification_serravalle.png"/>
          <p:cNvPicPr>
            <a:picLocks noChangeAspect="1"/>
          </p:cNvPicPr>
          <p:nvPr/>
        </p:nvPicPr>
        <p:blipFill>
          <a:blip r:embed="rId4"/>
          <a:stretch>
            <a:fillRect/>
          </a:stretch>
        </p:blipFill>
        <p:spPr>
          <a:xfrm>
            <a:off x="8209317" y="5549027"/>
            <a:ext cx="2315134" cy="2255733"/>
          </a:xfrm>
          <a:prstGeom prst="rect">
            <a:avLst/>
          </a:prstGeom>
        </p:spPr>
      </p:pic>
      <p:sp>
        <p:nvSpPr>
          <p:cNvPr id="27" name="Text 23"/>
          <p:cNvSpPr/>
          <p:nvPr/>
        </p:nvSpPr>
        <p:spPr>
          <a:xfrm>
            <a:off x="8242657" y="5338793"/>
            <a:ext cx="2258933" cy="173323"/>
          </a:xfrm>
          <a:prstGeom prst="rect">
            <a:avLst/>
          </a:prstGeom>
          <a:noFill/>
          <a:ln/>
        </p:spPr>
        <p:txBody>
          <a:bodyPr wrap="square" lIns="0" tIns="0" rIns="0" bIns="0" rtlCol="0" anchor="ctr"/>
          <a:lstStyle/>
          <a:p>
            <a:pPr algn="ctr"/>
            <a:r>
              <a:rPr lang="en-US" sz="700" i="1" dirty="0">
                <a:solidFill>
                  <a:srgbClr val="3A4A3C"/>
                </a:solidFill>
                <a:latin typeface="Georgia" pitchFamily="34" charset="0"/>
                <a:ea typeface="Georgia" pitchFamily="34" charset="-122"/>
                <a:cs typeface="Georgia" pitchFamily="34" charset="-120"/>
              </a:rPr>
              <a:t>Fig. 2.0: Image classification map of Serravalle,</a:t>
            </a:r>
          </a:p>
          <a:p>
            <a:pPr algn="ctr"/>
            <a:r>
              <a:rPr lang="en-US" sz="700" i="1" dirty="0">
                <a:solidFill>
                  <a:srgbClr val="3A4A3C"/>
                </a:solidFill>
                <a:latin typeface="Georgia" pitchFamily="34" charset="0"/>
                <a:ea typeface="Georgia" pitchFamily="34" charset="-122"/>
                <a:cs typeface="Georgia" pitchFamily="34" charset="-120"/>
              </a:rPr>
              <a:t> San Marino</a:t>
            </a:r>
            <a:endParaRPr lang="en-US" sz="700" dirty="0"/>
          </a:p>
        </p:txBody>
      </p:sp>
      <p:sp>
        <p:nvSpPr>
          <p:cNvPr id="28" name="Text 24"/>
          <p:cNvSpPr/>
          <p:nvPr/>
        </p:nvSpPr>
        <p:spPr>
          <a:xfrm>
            <a:off x="3523977" y="5494336"/>
            <a:ext cx="4571113" cy="1186534"/>
          </a:xfrm>
          <a:prstGeom prst="rect">
            <a:avLst/>
          </a:prstGeom>
          <a:noFill/>
          <a:ln/>
        </p:spPr>
        <p:txBody>
          <a:bodyPr wrap="square" lIns="0" tIns="0" rIns="0" bIns="0" rtlCol="0" anchor="t"/>
          <a:lstStyle/>
          <a:p>
            <a:pPr algn="just">
              <a:lnSpc>
                <a:spcPct val="115000"/>
              </a:lnSpc>
            </a:pPr>
            <a:r>
              <a:rPr lang="en-US" sz="600" b="1" dirty="0">
                <a:solidFill>
                  <a:srgbClr val="142016"/>
                </a:solidFill>
                <a:latin typeface="Georgia" pitchFamily="34" charset="0"/>
                <a:ea typeface="Georgia" pitchFamily="34" charset="-122"/>
                <a:cs typeface="Georgia" pitchFamily="34" charset="-120"/>
              </a:rPr>
              <a:t>Fig. 2.0 </a:t>
            </a:r>
            <a:r>
              <a:rPr lang="en-US" sz="600" dirty="0">
                <a:solidFill>
                  <a:srgbClr val="142016"/>
                </a:solidFill>
                <a:latin typeface="Georgia" pitchFamily="34" charset="0"/>
                <a:ea typeface="Georgia" pitchFamily="34" charset="-122"/>
                <a:cs typeface="Georgia" pitchFamily="34" charset="-120"/>
              </a:rPr>
              <a:t>shows the supervised image classification of </a:t>
            </a:r>
            <a:r>
              <a:rPr lang="en-US" sz="600" b="1" dirty="0">
                <a:solidFill>
                  <a:srgbClr val="142016"/>
                </a:solidFill>
                <a:latin typeface="Georgia" pitchFamily="34" charset="0"/>
                <a:ea typeface="Georgia" pitchFamily="34" charset="-122"/>
                <a:cs typeface="Georgia" pitchFamily="34" charset="-120"/>
              </a:rPr>
              <a:t>Serravalle</a:t>
            </a:r>
            <a:r>
              <a:rPr lang="en-US" sz="600" dirty="0">
                <a:solidFill>
                  <a:srgbClr val="142016"/>
                </a:solidFill>
                <a:latin typeface="Georgia" pitchFamily="34" charset="0"/>
                <a:ea typeface="Georgia" pitchFamily="34" charset="-122"/>
                <a:cs typeface="Georgia" pitchFamily="34" charset="-120"/>
              </a:rPr>
              <a:t> into five spectral classes - Urban, Sparse Vegetation, Dense Vegetation, Swamp, and Water - generated with a Maximum Likelihood classifier trained on representative signatures for each class and validated against reference points.
Approximate area shares are Dense Vegetation ~34%, Sparse Vegetation ~29%, Urban ~21%, Swamp ~11%, and Water ~5%. Urban pixels form a dense, interlocking network along the northeastern ridge and around the Dogana border crossing, reflecting Serravalle's role as San Marino's main commercial and industrial gateway. Dense vegetation dominates the steeper south-western slopes where terrain limits development, while the swamp class traces a narrow corridor along the valley floor, coinciding with a seasonal watercourse that also carries the small water bodies visible mid-scene.
This class-level breakdown provides the ground truth against which the coarser 3-class LULC map in Fig. 4.0 is later compared.</a:t>
            </a:r>
            <a:endParaRPr lang="en-US" sz="600" dirty="0"/>
          </a:p>
        </p:txBody>
      </p:sp>
      <p:pic>
        <p:nvPicPr>
          <p:cNvPr id="29" name="Image 2" descr="/home/claude/poster_imgs/ndvi.png"/>
          <p:cNvPicPr>
            <a:picLocks noChangeAspect="1"/>
          </p:cNvPicPr>
          <p:nvPr/>
        </p:nvPicPr>
        <p:blipFill>
          <a:blip r:embed="rId5"/>
          <a:stretch>
            <a:fillRect/>
          </a:stretch>
        </p:blipFill>
        <p:spPr>
          <a:xfrm>
            <a:off x="231880" y="6214767"/>
            <a:ext cx="2938056" cy="2241097"/>
          </a:xfrm>
          <a:prstGeom prst="rect">
            <a:avLst/>
          </a:prstGeom>
        </p:spPr>
      </p:pic>
      <p:sp>
        <p:nvSpPr>
          <p:cNvPr id="31" name="Text 26"/>
          <p:cNvSpPr/>
          <p:nvPr/>
        </p:nvSpPr>
        <p:spPr>
          <a:xfrm>
            <a:off x="94199" y="8627277"/>
            <a:ext cx="2863931" cy="232137"/>
          </a:xfrm>
          <a:prstGeom prst="rect">
            <a:avLst/>
          </a:prstGeom>
          <a:noFill/>
          <a:ln/>
        </p:spPr>
        <p:txBody>
          <a:bodyPr wrap="square" lIns="0" tIns="0" rIns="0" bIns="0" rtlCol="0" anchor="ctr"/>
          <a:lstStyle/>
          <a:p>
            <a:pPr algn="ctr"/>
            <a:r>
              <a:rPr lang="en-US" sz="700" i="1" dirty="0">
                <a:solidFill>
                  <a:srgbClr val="3A4A3C"/>
                </a:solidFill>
                <a:latin typeface="Georgia" pitchFamily="34" charset="0"/>
                <a:ea typeface="Georgia" pitchFamily="34" charset="-122"/>
                <a:cs typeface="Georgia" pitchFamily="34" charset="-120"/>
              </a:rPr>
              <a:t>Fig. 3.0: NDVI map of San Marino</a:t>
            </a:r>
            <a:endParaRPr lang="en-US" sz="700" dirty="0"/>
          </a:p>
        </p:txBody>
      </p:sp>
      <p:sp>
        <p:nvSpPr>
          <p:cNvPr id="32" name="Text 27"/>
          <p:cNvSpPr/>
          <p:nvPr/>
        </p:nvSpPr>
        <p:spPr>
          <a:xfrm>
            <a:off x="3367328" y="6913916"/>
            <a:ext cx="4230728" cy="1103102"/>
          </a:xfrm>
          <a:prstGeom prst="rect">
            <a:avLst/>
          </a:prstGeom>
          <a:noFill/>
          <a:ln/>
        </p:spPr>
        <p:txBody>
          <a:bodyPr wrap="square" lIns="0" tIns="0" rIns="0" bIns="0" rtlCol="0" anchor="t"/>
          <a:lstStyle/>
          <a:p>
            <a:pPr algn="just">
              <a:lnSpc>
                <a:spcPct val="115000"/>
              </a:lnSpc>
            </a:pPr>
            <a:r>
              <a:rPr lang="en-US" sz="550" b="1" dirty="0">
                <a:solidFill>
                  <a:srgbClr val="142016"/>
                </a:solidFill>
                <a:latin typeface="Georgia" pitchFamily="34" charset="0"/>
                <a:ea typeface="Georgia" pitchFamily="34" charset="-122"/>
                <a:cs typeface="Georgia" pitchFamily="34" charset="-120"/>
              </a:rPr>
              <a:t>Fig. 3.0 </a:t>
            </a:r>
            <a:r>
              <a:rPr lang="en-US" sz="550" dirty="0">
                <a:solidFill>
                  <a:srgbClr val="142016"/>
                </a:solidFill>
                <a:latin typeface="Georgia" pitchFamily="34" charset="0"/>
                <a:ea typeface="Georgia" pitchFamily="34" charset="-122"/>
                <a:cs typeface="Georgia" pitchFamily="34" charset="-120"/>
              </a:rPr>
              <a:t>shows the </a:t>
            </a:r>
            <a:r>
              <a:rPr lang="en-US" sz="550" b="1" dirty="0">
                <a:solidFill>
                  <a:srgbClr val="142016"/>
                </a:solidFill>
                <a:latin typeface="Georgia" pitchFamily="34" charset="0"/>
                <a:ea typeface="Georgia" pitchFamily="34" charset="-122"/>
                <a:cs typeface="Georgia" pitchFamily="34" charset="-120"/>
              </a:rPr>
              <a:t>Normalized Difference Vegetation Index (NDVI)</a:t>
            </a:r>
            <a:r>
              <a:rPr lang="en-US" sz="550" dirty="0">
                <a:solidFill>
                  <a:srgbClr val="142016"/>
                </a:solidFill>
                <a:latin typeface="Georgia" pitchFamily="34" charset="0"/>
                <a:ea typeface="Georgia" pitchFamily="34" charset="-122"/>
                <a:cs typeface="Georgia" pitchFamily="34" charset="-120"/>
              </a:rPr>
              <a:t>, computed as (NIR - Red)/(NIR + Red) from Landsat Bands 5 and 4, then reclassified into six vigor classes from No Vegetation (NDVI &lt; 0.1) to Very High Vegetation (NDVI &gt; 0.6) using natural-breaks thresholds.
The territory-wide mean NDVI is approximately 0.42, indicating overall moderate-to-high vegetation vigor. Moderate and High Vegetation classes together cover roughly half of the land area and dominate the southern and western hill slopes, while No Vegetation and Very Low Vegetation values are concentrated along the built-up ridge running from Borgo Maggiore through San Marino City to Serravalle, and in bare rock exposures near Monte Titano.
Because NDVI responds to both canopy density and soil moisture at the time of image capture, seasonal acquisition date should be reported alongside this map, as it can shift class boundaries by a full category in marginal pixels. The spatial pattern here anchors the vegetation/urban split later applied in the LULC reclassification (Fig. 4.0).</a:t>
            </a:r>
            <a:endParaRPr lang="en-US" sz="550" dirty="0"/>
          </a:p>
        </p:txBody>
      </p:sp>
      <p:pic>
        <p:nvPicPr>
          <p:cNvPr id="33" name="Image 3" descr="/home/claude/poster_imgs/lulc.png"/>
          <p:cNvPicPr>
            <a:picLocks noChangeAspect="1"/>
          </p:cNvPicPr>
          <p:nvPr/>
        </p:nvPicPr>
        <p:blipFill>
          <a:blip r:embed="rId6"/>
          <a:stretch>
            <a:fillRect/>
          </a:stretch>
        </p:blipFill>
        <p:spPr>
          <a:xfrm>
            <a:off x="8051454" y="8041015"/>
            <a:ext cx="2526491" cy="1714281"/>
          </a:xfrm>
          <a:prstGeom prst="rect">
            <a:avLst/>
          </a:prstGeom>
        </p:spPr>
      </p:pic>
      <p:sp>
        <p:nvSpPr>
          <p:cNvPr id="35" name="Text 29"/>
          <p:cNvSpPr/>
          <p:nvPr/>
        </p:nvSpPr>
        <p:spPr>
          <a:xfrm>
            <a:off x="8748093" y="9833137"/>
            <a:ext cx="1642689" cy="100282"/>
          </a:xfrm>
          <a:prstGeom prst="rect">
            <a:avLst/>
          </a:prstGeom>
          <a:noFill/>
          <a:ln/>
        </p:spPr>
        <p:txBody>
          <a:bodyPr wrap="square" lIns="0" tIns="0" rIns="0" bIns="0" rtlCol="0" anchor="ctr"/>
          <a:lstStyle/>
          <a:p>
            <a:r>
              <a:rPr lang="en-US" sz="500" i="1" dirty="0">
                <a:solidFill>
                  <a:srgbClr val="3A4A3C"/>
                </a:solidFill>
                <a:latin typeface="Georgia" pitchFamily="34" charset="0"/>
                <a:ea typeface="Georgia" pitchFamily="34" charset="-122"/>
                <a:cs typeface="Georgia" pitchFamily="34" charset="-120"/>
              </a:rPr>
              <a:t>Fig. 4.0: Land Use/Land Cover (LULC) map of San Marino, derived from NDVI classification</a:t>
            </a:r>
            <a:endParaRPr lang="en-US" sz="500" dirty="0"/>
          </a:p>
        </p:txBody>
      </p:sp>
      <p:sp>
        <p:nvSpPr>
          <p:cNvPr id="36" name="Text 30"/>
          <p:cNvSpPr/>
          <p:nvPr/>
        </p:nvSpPr>
        <p:spPr>
          <a:xfrm>
            <a:off x="3761016" y="8413707"/>
            <a:ext cx="4052825" cy="1226417"/>
          </a:xfrm>
          <a:prstGeom prst="rect">
            <a:avLst/>
          </a:prstGeom>
          <a:noFill/>
          <a:ln/>
        </p:spPr>
        <p:txBody>
          <a:bodyPr wrap="square" lIns="0" tIns="0" rIns="0" bIns="0" rtlCol="0" anchor="t"/>
          <a:lstStyle/>
          <a:p>
            <a:pPr algn="just">
              <a:lnSpc>
                <a:spcPct val="115000"/>
              </a:lnSpc>
            </a:pPr>
            <a:r>
              <a:rPr lang="en-US" sz="600" b="1" dirty="0">
                <a:solidFill>
                  <a:srgbClr val="142016"/>
                </a:solidFill>
                <a:latin typeface="Georgia" pitchFamily="34" charset="0"/>
                <a:ea typeface="Georgia" pitchFamily="34" charset="-122"/>
                <a:cs typeface="Georgia" pitchFamily="34" charset="-120"/>
              </a:rPr>
              <a:t>Fig. 4.0 </a:t>
            </a:r>
            <a:r>
              <a:rPr lang="en-US" sz="600" dirty="0">
                <a:solidFill>
                  <a:srgbClr val="142016"/>
                </a:solidFill>
                <a:latin typeface="Georgia" pitchFamily="34" charset="0"/>
                <a:ea typeface="Georgia" pitchFamily="34" charset="-122"/>
                <a:cs typeface="Georgia" pitchFamily="34" charset="-120"/>
              </a:rPr>
              <a:t>shows the </a:t>
            </a:r>
            <a:r>
              <a:rPr lang="en-US" sz="600" b="1" dirty="0">
                <a:solidFill>
                  <a:srgbClr val="142016"/>
                </a:solidFill>
                <a:latin typeface="Georgia" pitchFamily="34" charset="0"/>
                <a:ea typeface="Georgia" pitchFamily="34" charset="-122"/>
                <a:cs typeface="Georgia" pitchFamily="34" charset="-120"/>
              </a:rPr>
              <a:t>Land Use/Land Cover (LULC)</a:t>
            </a:r>
            <a:r>
              <a:rPr lang="en-US" sz="600" dirty="0">
                <a:solidFill>
                  <a:srgbClr val="142016"/>
                </a:solidFill>
                <a:latin typeface="Georgia" pitchFamily="34" charset="0"/>
                <a:ea typeface="Georgia" pitchFamily="34" charset="-122"/>
                <a:cs typeface="Georgia" pitchFamily="34" charset="-120"/>
              </a:rPr>
              <a:t> map, derived by collapsing the NDVI raster into three fixed-threshold classes: Water (NDVI &lt; 0), Urban (0-0.2), and Vegetation (&gt;0.2).
Vegetation covers an estimated ~55% of San Marino's 61.2 km² land area, Urban surfaces ~43%, and Water under 2%, concentrated in a small reservoir visible near the central-western section of the territory. The fine, interlaced red-green pattern across the map, rather than large contiguous blocks, reflects San Marino's dense, terraced settlement pattern, where buildings, roads, and small garden or agricultural plots sit in close proximity across nearly every hillside.
Cross-checking this map against the five-class classification in Fig. 2.0 shows good spatial agreement: Serravalle's Urban and Sparse Vegetation classes both fall largely within this map's Urban threshold, while Dense Vegetation and Swamp map onto Vegetation. The main limitation is that a single NDVI threshold cannot separate bare soil or rock outcrops from true built-up surfaces, so localized misclassification is expected on exposed slopes near Monte Titano.</a:t>
            </a:r>
            <a:endParaRPr lang="en-US" sz="600" dirty="0"/>
          </a:p>
        </p:txBody>
      </p:sp>
      <p:pic>
        <p:nvPicPr>
          <p:cNvPr id="37" name="Image 4" descr="/home/claude/poster_imgs/contour.png"/>
          <p:cNvPicPr>
            <a:picLocks noChangeAspect="1"/>
          </p:cNvPicPr>
          <p:nvPr/>
        </p:nvPicPr>
        <p:blipFill>
          <a:blip r:embed="rId7"/>
          <a:stretch>
            <a:fillRect/>
          </a:stretch>
        </p:blipFill>
        <p:spPr>
          <a:xfrm>
            <a:off x="259081" y="9326281"/>
            <a:ext cx="2938056" cy="1912812"/>
          </a:xfrm>
          <a:prstGeom prst="rect">
            <a:avLst/>
          </a:prstGeom>
        </p:spPr>
      </p:pic>
      <p:sp>
        <p:nvSpPr>
          <p:cNvPr id="39" name="Text 32"/>
          <p:cNvSpPr/>
          <p:nvPr/>
        </p:nvSpPr>
        <p:spPr>
          <a:xfrm>
            <a:off x="645726" y="11318685"/>
            <a:ext cx="2164765" cy="100282"/>
          </a:xfrm>
          <a:prstGeom prst="rect">
            <a:avLst/>
          </a:prstGeom>
          <a:noFill/>
          <a:ln/>
        </p:spPr>
        <p:txBody>
          <a:bodyPr wrap="square" lIns="0" tIns="0" rIns="0" bIns="0" rtlCol="0" anchor="ctr"/>
          <a:lstStyle/>
          <a:p>
            <a:r>
              <a:rPr lang="en-US" sz="700" i="1" dirty="0">
                <a:solidFill>
                  <a:srgbClr val="3A4A3C"/>
                </a:solidFill>
                <a:latin typeface="Georgia" pitchFamily="34" charset="0"/>
                <a:ea typeface="Georgia" pitchFamily="34" charset="-122"/>
                <a:cs typeface="Georgia" pitchFamily="34" charset="-120"/>
              </a:rPr>
              <a:t>Fig. 5.0: Contour map of San Marino (50 m interval)</a:t>
            </a:r>
            <a:endParaRPr lang="en-US" sz="700" dirty="0"/>
          </a:p>
        </p:txBody>
      </p:sp>
      <p:sp>
        <p:nvSpPr>
          <p:cNvPr id="40" name="Text 33"/>
          <p:cNvSpPr/>
          <p:nvPr/>
        </p:nvSpPr>
        <p:spPr>
          <a:xfrm>
            <a:off x="3367328" y="10148737"/>
            <a:ext cx="6058813" cy="1327397"/>
          </a:xfrm>
          <a:prstGeom prst="rect">
            <a:avLst/>
          </a:prstGeom>
          <a:noFill/>
          <a:ln/>
        </p:spPr>
        <p:txBody>
          <a:bodyPr wrap="square" lIns="0" tIns="0" rIns="0" bIns="0" rtlCol="0" anchor="t"/>
          <a:lstStyle/>
          <a:p>
            <a:pPr algn="just">
              <a:lnSpc>
                <a:spcPct val="115000"/>
              </a:lnSpc>
            </a:pPr>
            <a:r>
              <a:rPr lang="en-US" sz="600" b="1" dirty="0">
                <a:solidFill>
                  <a:srgbClr val="142016"/>
                </a:solidFill>
                <a:latin typeface="Georgia" pitchFamily="34" charset="0"/>
                <a:ea typeface="Georgia" pitchFamily="34" charset="-122"/>
                <a:cs typeface="Georgia" pitchFamily="34" charset="-120"/>
              </a:rPr>
              <a:t>Fig. 5.0 </a:t>
            </a:r>
            <a:r>
              <a:rPr lang="en-US" sz="600" dirty="0">
                <a:solidFill>
                  <a:srgbClr val="142016"/>
                </a:solidFill>
                <a:latin typeface="Georgia" pitchFamily="34" charset="0"/>
                <a:ea typeface="Georgia" pitchFamily="34" charset="-122"/>
                <a:cs typeface="Georgia" pitchFamily="34" charset="-120"/>
              </a:rPr>
              <a:t>shows a </a:t>
            </a:r>
            <a:r>
              <a:rPr lang="en-US" sz="600" b="1" dirty="0">
                <a:solidFill>
                  <a:srgbClr val="142016"/>
                </a:solidFill>
                <a:latin typeface="Georgia" pitchFamily="34" charset="0"/>
                <a:ea typeface="Georgia" pitchFamily="34" charset="-122"/>
                <a:cs typeface="Georgia" pitchFamily="34" charset="-120"/>
              </a:rPr>
              <a:t>contour map</a:t>
            </a:r>
            <a:r>
              <a:rPr lang="en-US" sz="600" dirty="0">
                <a:solidFill>
                  <a:srgbClr val="142016"/>
                </a:solidFill>
                <a:latin typeface="Georgia" pitchFamily="34" charset="0"/>
                <a:ea typeface="Georgia" pitchFamily="34" charset="-122"/>
                <a:cs typeface="Georgia" pitchFamily="34" charset="-120"/>
              </a:rPr>
              <a:t> of San Marino generated by interpolating elevation points at a 50 m contour interval and classifying relief into five 200 m elevation bands from 0-200 m up to 800-1000 m.
Contours are widely spaced and elevations stay low (0-200 m) around Serravalle and the northeastern lowlands, then tighten sharply toward the interior, where San Marino City and the Monte Titano massif sit above 700 m, the republic's highest ground. The densest contour clustering, indicating the steepest slopes, runs along the eastern flank near Faetano and Montegiardino, while Acquaviva and Fiorentino in the west sit on a comparatively gentler mid-elevation shoulder around 300-600 m.
This terrain pattern explains the land-cover story built up in Figs. 2-4: the flat Serravalle lowlands were the easiest to urbanize and register as the largest Urban share in Fig. 2.0, while the steep, high-relief slopes around San Marino City and Montegiardino resisted development and instead retained the high NDVI and Vegetation classes seen in Figs. 3.0 and 4.0. Slope derived from these contours would be a natural next layer for a buildable-land suitability model.</a:t>
            </a:r>
            <a:endParaRPr lang="en-US" sz="600" dirty="0"/>
          </a:p>
        </p:txBody>
      </p:sp>
      <p:sp>
        <p:nvSpPr>
          <p:cNvPr id="41" name="Shape 34"/>
          <p:cNvSpPr/>
          <p:nvPr/>
        </p:nvSpPr>
        <p:spPr>
          <a:xfrm>
            <a:off x="249274" y="11663298"/>
            <a:ext cx="10265369" cy="435060"/>
          </a:xfrm>
          <a:prstGeom prst="rect">
            <a:avLst/>
          </a:prstGeom>
          <a:solidFill>
            <a:srgbClr val="0D150F"/>
          </a:solidFill>
          <a:ln/>
        </p:spPr>
      </p:sp>
      <p:sp>
        <p:nvSpPr>
          <p:cNvPr id="42" name="Text 35"/>
          <p:cNvSpPr/>
          <p:nvPr/>
        </p:nvSpPr>
        <p:spPr>
          <a:xfrm>
            <a:off x="2248191" y="11794442"/>
            <a:ext cx="5565650" cy="259755"/>
          </a:xfrm>
          <a:prstGeom prst="rect">
            <a:avLst/>
          </a:prstGeom>
          <a:noFill/>
          <a:ln/>
        </p:spPr>
        <p:txBody>
          <a:bodyPr wrap="square" lIns="0" tIns="0" rIns="0" bIns="0" rtlCol="0" anchor="ctr"/>
          <a:lstStyle/>
          <a:p>
            <a:pPr algn="ctr"/>
            <a:r>
              <a:rPr lang="en-US" sz="900" b="1" kern="0" spc="41" dirty="0">
                <a:solidFill>
                  <a:srgbClr val="F4F7EE"/>
                </a:solidFill>
                <a:latin typeface="Georgia" pitchFamily="34" charset="0"/>
                <a:ea typeface="Georgia" pitchFamily="34" charset="-122"/>
                <a:cs typeface="Georgia" pitchFamily="34" charset="-120"/>
              </a:rPr>
              <a:t>CONCLUSION</a:t>
            </a:r>
            <a:endParaRPr lang="en-US" sz="900" dirty="0"/>
          </a:p>
        </p:txBody>
      </p:sp>
      <p:sp>
        <p:nvSpPr>
          <p:cNvPr id="43" name="Shape 36"/>
          <p:cNvSpPr/>
          <p:nvPr/>
        </p:nvSpPr>
        <p:spPr>
          <a:xfrm>
            <a:off x="259081" y="12117869"/>
            <a:ext cx="10265370" cy="2096694"/>
          </a:xfrm>
          <a:prstGeom prst="rect">
            <a:avLst/>
          </a:prstGeom>
          <a:solidFill>
            <a:srgbClr val="16261C"/>
          </a:solidFill>
          <a:ln/>
        </p:spPr>
      </p:sp>
      <p:sp>
        <p:nvSpPr>
          <p:cNvPr id="45" name="Text 38"/>
          <p:cNvSpPr/>
          <p:nvPr/>
        </p:nvSpPr>
        <p:spPr>
          <a:xfrm>
            <a:off x="822960" y="12384890"/>
            <a:ext cx="8924763" cy="1619439"/>
          </a:xfrm>
          <a:prstGeom prst="rect">
            <a:avLst/>
          </a:prstGeom>
          <a:noFill/>
          <a:ln/>
        </p:spPr>
        <p:txBody>
          <a:bodyPr wrap="square" lIns="0" tIns="0" rIns="0" bIns="0" rtlCol="0" anchor="t"/>
          <a:lstStyle/>
          <a:p>
            <a:pPr algn="just">
              <a:lnSpc>
                <a:spcPct val="112000"/>
              </a:lnSpc>
            </a:pPr>
            <a:r>
              <a:rPr lang="en-US" sz="750" dirty="0">
                <a:solidFill>
                  <a:srgbClr val="F4F7EE"/>
                </a:solidFill>
                <a:latin typeface="Georgia" pitchFamily="34" charset="0"/>
                <a:ea typeface="Georgia" pitchFamily="34" charset="-122"/>
                <a:cs typeface="Georgia" pitchFamily="34" charset="-120"/>
              </a:rPr>
              <a:t>This poster documents hands-on GIS training completed across five core workflows: administrative boundary digitizing and georeferencing, supervised image classification, NDVI-based vegetation index computation, Land Use/Land Cover reclassification, and contour/elevation interpolation, applied throughout to the Republic of San Marino as a compact, fully-covered case study.</a:t>
            </a:r>
            <a:endParaRPr lang="en-US" sz="750" dirty="0"/>
          </a:p>
          <a:p>
            <a:pPr algn="just">
              <a:lnSpc>
                <a:spcPct val="112000"/>
              </a:lnSpc>
            </a:pPr>
            <a:endParaRPr lang="en-US" sz="750" dirty="0"/>
          </a:p>
          <a:p>
            <a:pPr algn="just">
              <a:lnSpc>
                <a:spcPct val="112000"/>
              </a:lnSpc>
            </a:pPr>
            <a:r>
              <a:rPr lang="en-US" sz="750" dirty="0">
                <a:solidFill>
                  <a:srgbClr val="F4F7EE"/>
                </a:solidFill>
                <a:latin typeface="Georgia" pitchFamily="34" charset="0"/>
                <a:ea typeface="Georgia" pitchFamily="34" charset="-122"/>
                <a:cs typeface="Georgia" pitchFamily="34" charset="-120"/>
              </a:rPr>
              <a:t>Working through these five outputs built a working command of the full GIS pipeline: acquiring and projecting raw shapefile and Landsat imagery into a consistent coordinate system (WGS 1984 UTM Zone 33N); cleaning topology after digitizing; selecting and validating training signatures for a Maximum Likelihood classifier; deriving and thresholding a continuous vegetation index into discrete land-cover classes; and interpolating point elevation data into contour lines and elevation bands. Cross-referencing the five layers against one another, boundary, classification, NDVI, LULC, and contour, also built practical skill in spatial reasoning: recognizing why the flat Serravalle lowlands urbanized first while the steep slopes around Monte Titano and Montegiardino retained dense vegetation, and using terrain as the physical explanation for a land-cover pattern rather than treating each map as an isolated output.</a:t>
            </a:r>
            <a:endParaRPr lang="en-US" sz="750" dirty="0"/>
          </a:p>
          <a:p>
            <a:pPr algn="just">
              <a:lnSpc>
                <a:spcPct val="112000"/>
              </a:lnSpc>
            </a:pPr>
            <a:endParaRPr lang="en-US" sz="750" dirty="0"/>
          </a:p>
          <a:p>
            <a:pPr algn="just">
              <a:lnSpc>
                <a:spcPct val="112000"/>
              </a:lnSpc>
            </a:pPr>
            <a:r>
              <a:rPr lang="en-US" sz="750" dirty="0">
                <a:solidFill>
                  <a:srgbClr val="F4F7EE"/>
                </a:solidFill>
                <a:latin typeface="Georgia" pitchFamily="34" charset="0"/>
                <a:ea typeface="Georgia" pitchFamily="34" charset="-122"/>
                <a:cs typeface="Georgia" pitchFamily="34" charset="-120"/>
              </a:rPr>
              <a:t>As an Applied Geology student, these are the same techniques that underpin mineral exploration targeting, geological hazard mapping, terrain and slope stability assessment, and hydrogeological modeling, so this exercise is direct preparation for subsurface and surface geological analysis in later coursework and fieldwork. Continued practice with accuracy assessment (confusion matrices, ground-truthing) and the addition of slope and aspect layers derived from the contour data would be the natural next step in extending this skill set toward professional-grade geological GIS analysis.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139</TotalTime>
  <Words>1858</Words>
  <Application>Microsoft Office PowerPoint</Application>
  <PresentationFormat>Custom</PresentationFormat>
  <Paragraphs>43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Georgia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Patience Oyewale</cp:lastModifiedBy>
  <cp:revision>6</cp:revision>
  <dcterms:created xsi:type="dcterms:W3CDTF">2026-07-13T02:36:49Z</dcterms:created>
  <dcterms:modified xsi:type="dcterms:W3CDTF">2026-07-13T16:07:13Z</dcterms:modified>
</cp:coreProperties>
</file>